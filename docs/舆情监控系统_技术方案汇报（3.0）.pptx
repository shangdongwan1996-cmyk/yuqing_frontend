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71" r:id="rId8"/>
    <p:sldId id="269" r:id="rId9"/>
    <p:sldId id="267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607D"/>
    <a:srgbClr val="F2F6F9"/>
    <a:srgbClr val="D0D8E8"/>
    <a:srgbClr val="C1DCE4"/>
    <a:srgbClr val="E8F2F5"/>
    <a:srgbClr val="DCBDB8"/>
    <a:srgbClr val="82ADE1"/>
    <a:srgbClr val="5088D5"/>
    <a:srgbClr val="1D4275"/>
    <a:srgbClr val="FF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7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7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>
            <a:off x="9448495" y="0"/>
            <a:ext cx="2743200" cy="6858000"/>
          </a:xfrm>
          <a:prstGeom prst="rtTriangle">
            <a:avLst/>
          </a:prstGeom>
          <a:solidFill>
            <a:srgbClr val="07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7315200" cy="228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舆情监控系统  技术方案汇报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AE3"/>
                </a:solidFill>
              </a:defRPr>
            </a:pPr>
            <a:r>
              <a:t>区市场监督管理局  ·  网络舆情监控系统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114800"/>
            <a:ext cx="2286000" cy="22860"/>
          </a:xfrm>
          <a:prstGeom prst="rect">
            <a:avLst/>
          </a:prstGeom>
          <a:solidFill>
            <a:srgbClr val="88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669280"/>
            <a:ext cx="82296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9C8D6"/>
                </a:solidFill>
              </a:defRPr>
            </a:pPr>
            <a:r>
              <a:t>文档版本 v</a:t>
            </a:r>
            <a:r>
              <a:rPr lang="en-US"/>
              <a:t>3</a:t>
            </a:r>
            <a:r>
              <a:t>.0  ｜  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607D"/>
                </a:solidFill>
              </a:defRPr>
            </a:pPr>
            <a:r>
              <a:t>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16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rPr sz="1600"/>
              <a:t>▸ 辖区主播、网红、企业日益增多，网络舆情对监管工作影响越来越大</a:t>
            </a:r>
            <a:endParaRPr sz="1600"/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rPr sz="1600"/>
              <a:t>▸ 舆情信息分布在多平台、多渠道，人工巡查难以全面覆盖</a:t>
            </a:r>
            <a:endParaRPr sz="1600"/>
          </a:p>
          <a:p>
            <a:pPr>
              <a:spcAft>
                <a:spcPts val="300"/>
              </a:spcAft>
              <a:defRPr sz="1400" b="0">
                <a:solidFill>
                  <a:srgbClr val="2D2D2D"/>
                </a:solidFill>
              </a:defRPr>
            </a:pPr>
            <a:r>
              <a:rPr sz="1600"/>
              <a:t>▸ 流量数据异常波动（暴增/暴跌）往往是重大舆情事件的前兆信号</a:t>
            </a:r>
            <a:endParaRPr sz="1600"/>
          </a:p>
        </p:txBody>
      </p:sp>
      <p:sp>
        <p:nvSpPr>
          <p:cNvPr id="8" name="Oval 7"/>
          <p:cNvSpPr/>
          <p:nvPr/>
        </p:nvSpPr>
        <p:spPr>
          <a:xfrm>
            <a:off x="6217920" y="1371600"/>
            <a:ext cx="365760" cy="36576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37160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rPr lang="zh-CN"/>
              <a:t>六</a:t>
            </a:r>
            <a:r>
              <a:t>大目标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874519"/>
          <a:ext cx="5303520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270"/>
                <a:gridCol w="1777365"/>
                <a:gridCol w="3143885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0960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 anchor="ctr">
                    <a:solidFill>
                      <a:srgbClr val="09607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09607D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01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</a:rPr>
                        <a:t>关键词</a:t>
                      </a:r>
                      <a:r>
                        <a:rPr sz="1000" b="1">
                          <a:solidFill>
                            <a:schemeClr val="tx1"/>
                          </a:solidFill>
                        </a:rPr>
                        <a:t>监测</a:t>
                      </a:r>
                      <a:endParaRPr sz="1000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通过关键词搜索各媒体平台，小时级采集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02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sz="1000" b="1">
                          <a:solidFill>
                            <a:schemeClr val="tx1"/>
                          </a:solidFill>
                        </a:rPr>
                        <a:t>热搜监控</a:t>
                      </a:r>
                      <a:endParaRPr sz="10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实时监控热搜榜单，匹配关键词自动输出预警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03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流量预警 + 多级爬取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自动追踪辖区账号流量，异常时触发告警输出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D2D2D"/>
                          </a:solidFill>
                        </a:defRPr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标准化输出对接外部系统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统一 JSON 格式输出结果，返回上游模型处理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</a:tr>
              <a:tr h="48768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06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关键词库管理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多级分类关键词库，正负面词库辅助情感分析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07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标准化输出格式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rPr b="1">
                          <a:solidFill>
                            <a:schemeClr val="tx1"/>
                          </a:solidFill>
                        </a:rPr>
                        <a:t>统一 JSON Schema v1.0 输出，供大模型/系统调用</a:t>
                      </a:r>
                      <a:endParaRPr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40080" y="5913120"/>
            <a:ext cx="10911535" cy="731520"/>
          </a:xfrm>
          <a:prstGeom prst="roundRect">
            <a:avLst/>
          </a:prstGeom>
          <a:solidFill>
            <a:srgbClr val="E8F2F5"/>
          </a:solidFill>
          <a:ln w="19050">
            <a:solidFill>
              <a:srgbClr val="096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11505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核心理念：舆情发现的关键在于「早」——在事件发酵前通过流量异动捕捉苗头，为监管争取黄金处置时间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607D"/>
                </a:solidFill>
              </a:defRPr>
            </a:pPr>
            <a:r>
              <a:t>监测范围总览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40080" y="1463040"/>
            <a:ext cx="2560320" cy="3512185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官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822960" y="2501265"/>
            <a:ext cx="21945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rPr sz="2000"/>
              <a:t>官方</a:t>
            </a:r>
            <a:r>
              <a:rPr lang="zh-CN" sz="2000"/>
              <a:t>平台</a:t>
            </a:r>
            <a:endParaRPr lang="zh-CN" sz="20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960" y="303847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rPr sz="1400">
                <a:solidFill>
                  <a:schemeClr val="tx1"/>
                </a:solidFill>
              </a:rPr>
              <a:t>人民网 · 新华网 · 光明网 · 央视网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822960" y="376999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rPr sz="1400">
                <a:solidFill>
                  <a:schemeClr val="tx1"/>
                </a:solidFill>
              </a:rPr>
              <a:t>覆盖: 官网文章、官方社交账号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3401695" y="1463040"/>
            <a:ext cx="2560320" cy="35121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>
            <p:custDataLst>
              <p:tags r:id="rId7"/>
            </p:custDataLst>
          </p:nvPr>
        </p:nvSpPr>
        <p:spPr>
          <a:xfrm>
            <a:off x="3584448" y="1691640"/>
            <a:ext cx="548640" cy="54864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主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584448" y="2501265"/>
            <a:ext cx="21945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rPr sz="2000"/>
              <a:t>主流</a:t>
            </a:r>
            <a:r>
              <a:rPr lang="zh-CN" sz="2000"/>
              <a:t>社媒</a:t>
            </a:r>
            <a:endParaRPr lang="zh-CN" sz="200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3584448" y="303847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rPr sz="1400">
                <a:solidFill>
                  <a:schemeClr val="tx1"/>
                </a:solidFill>
              </a:rPr>
              <a:t>澎湃新闻 · 新京报 · 观察者网 · 南方周末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3584448" y="376999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rPr sz="1400">
                <a:solidFill>
                  <a:schemeClr val="tx1"/>
                </a:solidFill>
              </a:rPr>
              <a:t>覆盖: 站内搜索、头条频道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6163310" y="1463040"/>
            <a:ext cx="2560320" cy="3512185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>
            <p:custDataLst>
              <p:tags r:id="rId12"/>
            </p:custDataLst>
          </p:nvPr>
        </p:nvSpPr>
        <p:spPr>
          <a:xfrm>
            <a:off x="6345936" y="1691640"/>
            <a:ext cx="548640" cy="54864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社</a:t>
            </a: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6345936" y="2501265"/>
            <a:ext cx="21945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rPr lang="zh-CN"/>
              <a:t>娱乐</a:t>
            </a:r>
            <a:r>
              <a:rPr lang="en-US" altLang="zh-CN"/>
              <a:t>/</a:t>
            </a:r>
            <a:r>
              <a:rPr lang="zh-CN"/>
              <a:t>社交媒体</a:t>
            </a:r>
            <a:endParaRPr lang="zh-CN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6345936" y="3038475"/>
            <a:ext cx="21945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rPr lang="zh-CN" sz="1400">
                <a:solidFill>
                  <a:schemeClr val="tx1"/>
                </a:solidFill>
              </a:rPr>
              <a:t>抖音</a:t>
            </a:r>
            <a:r>
              <a:rPr sz="1400">
                <a:solidFill>
                  <a:schemeClr val="tx1"/>
                </a:solidFill>
                <a:sym typeface="+mn-ea"/>
              </a:rPr>
              <a:t>· </a:t>
            </a:r>
            <a:r>
              <a:rPr sz="1400">
                <a:solidFill>
                  <a:schemeClr val="tx1"/>
                </a:solidFill>
              </a:rPr>
              <a:t>新浪微博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345936" y="376999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rPr sz="1400">
                <a:solidFill>
                  <a:schemeClr val="tx1"/>
                </a:solidFill>
              </a:rPr>
              <a:t>覆盖: 热搜榜单、关键词搜索、评论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>
            <p:custDataLst>
              <p:tags r:id="rId16"/>
            </p:custDataLst>
          </p:nvPr>
        </p:nvSpPr>
        <p:spPr>
          <a:xfrm>
            <a:off x="8924290" y="1463040"/>
            <a:ext cx="2560320" cy="35121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>
            <p:custDataLst>
              <p:tags r:id="rId17"/>
            </p:custDataLst>
          </p:nvPr>
        </p:nvSpPr>
        <p:spPr>
          <a:xfrm>
            <a:off x="9107424" y="1691640"/>
            <a:ext cx="548640" cy="548640"/>
          </a:xfrm>
          <a:prstGeom prst="ellipse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zh-CN"/>
              <a:t>视</a:t>
            </a:r>
            <a:endParaRPr lang="zh-CN"/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9107424" y="2501265"/>
            <a:ext cx="219456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9607D"/>
                </a:solidFill>
              </a:defRPr>
            </a:pPr>
            <a:r>
              <a:t>电商直播</a:t>
            </a:r>
            <a:r>
              <a:rPr lang="zh-CN"/>
              <a:t>平台</a:t>
            </a:r>
            <a:endParaRPr lang="zh-CN"/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9107424" y="3038475"/>
            <a:ext cx="219456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</a:defRPr>
            </a:pPr>
            <a:r>
              <a:t>淘宝直播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9107424" y="3769995"/>
            <a:ext cx="21945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</a:defRPr>
            </a:pPr>
            <a:r>
              <a:rPr sz="1400">
                <a:solidFill>
                  <a:schemeClr val="tx1"/>
                </a:solidFill>
              </a:rPr>
              <a:t>覆盖: 关键词、热门</a:t>
            </a:r>
            <a:r>
              <a:rPr lang="zh-CN" sz="1400">
                <a:solidFill>
                  <a:schemeClr val="tx1"/>
                </a:solidFill>
              </a:rPr>
              <a:t>搜索</a:t>
            </a:r>
            <a:r>
              <a:rPr sz="1400">
                <a:solidFill>
                  <a:schemeClr val="tx1"/>
                </a:solidFill>
              </a:rPr>
              <a:t>、评论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5715000"/>
            <a:ext cx="10911535" cy="548640"/>
          </a:xfrm>
          <a:prstGeom prst="round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20"/>
            <a:ext cx="1036289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全平台覆盖，关键词驱动采集，标准化 JSON 输出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607D"/>
                </a:solidFill>
              </a:defRPr>
            </a:pPr>
            <a:r>
              <a:t>系统</a:t>
            </a:r>
            <a:r>
              <a:rPr lang="zh-CN"/>
              <a:t>功能</a:t>
            </a:r>
            <a:r>
              <a:rPr lang="zh-CN"/>
              <a:t>架构</a:t>
            </a:r>
            <a:endParaRPr lang="zh-CN"/>
          </a:p>
        </p:txBody>
      </p:sp>
      <p:sp>
        <p:nvSpPr>
          <p:cNvPr id="4" name="Rectangle 3"/>
          <p:cNvSpPr/>
          <p:nvPr/>
        </p:nvSpPr>
        <p:spPr>
          <a:xfrm>
            <a:off x="640080" y="95123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97280"/>
            <a:ext cx="12191365" cy="55905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607D"/>
                </a:solidFill>
              </a:defRPr>
            </a:pPr>
            <a:r>
              <a:t>信息采集与服务方式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4008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640080" y="1371600"/>
            <a:ext cx="3474720" cy="457200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4008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新闻媒体  (6 大站点)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82296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采集方式：网页信息自动获取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采集频率：每 1 小时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无需额外登录授权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人民网 / 新华网 / 澎湃新闻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新京报 / 观察者网 / 南方周末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同步追踪各媒体社交账号发布</a:t>
            </a: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434340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4343400" y="1371600"/>
            <a:ext cx="3474720" cy="457200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434340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微博热搜</a:t>
            </a: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52628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采集方式：界面自动化采集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采集频率：每 10 分钟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首次登录后自动保持登录状态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获取完整热搜榜单排名数据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自动比对前次结果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发现新增热搜命中关键词即预警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抖音  (核心监测平台)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108960" cy="1845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采集方式：界面自动化采集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场景 A：关键词搜索（API 拦截，绕过 X-Bogus 签名）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场景 B：辖区账号流量追踪（自动比对前次结果）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  示例：1,200 → 42,000 (35x)</a:t>
            </a:r>
          </a:p>
          <a:p>
            <a:pPr>
              <a:spcAft>
                <a:spcPts val="300"/>
              </a:spcAft>
              <a:defRPr sz="1300" b="0">
                <a:solidFill>
                  <a:srgbClr val="2D2D2D"/>
                </a:solidFill>
              </a:defRPr>
            </a:pPr>
            <a:r>
              <a:t>场景 C：搜索结果情感分析（正负面词库匹配）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rPr sz="2800">
                <a:solidFill>
                  <a:srgbClr val="09607D"/>
                </a:solidFill>
              </a:rPr>
              <a:t>多级爬取策略与参数配置</a:t>
            </a:r>
            <a:endParaRPr sz="2800">
              <a:solidFill>
                <a:srgbClr val="09607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9607D"/>
                </a:solidFill>
              </a:defRPr>
            </a:pPr>
            <a:r>
              <a:t>四级爬取频率与范围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00000"/>
          <a:ext cx="108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1600000"/>
                <a:gridCol w="1600000"/>
                <a:gridCol w="2800000"/>
                <a:gridCol w="2000000"/>
                <a:gridCol w="1600000"/>
              </a:tblGrid>
              <a:tr h="3600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级别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采集量/次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平台</a:t>
                      </a:r>
                    </a:p>
                  </a:txBody>
                  <a:tcPr>
                    <a:solidFill>
                      <a:srgbClr val="09607D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L1 实时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5~10 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20条/次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重大突发事件、红灯告警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人工标记+自动升级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抖音+淘宝直播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L2 高频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30 min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20条/次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黄灯预警、热门话题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评分 ≥ 40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抖音+淘宝直播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L3 常规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2 h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20条/次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日常监测关键词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默认级别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抖音+淘宝直播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L4 背景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1次/天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50条/次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长尾词、数据补全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已归档/低优先级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0"/>
                      </a:pPr>
                      <a:r>
                        <a:t>抖音+淘宝直播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800000"/>
            <a:ext cx="5000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607D"/>
                </a:solidFill>
              </a:defRPr>
            </a:pPr>
            <a:r>
              <a:rPr sz="1600"/>
              <a:t>爬取参数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640080" y="4200000"/>
            <a:ext cx="10500000" cy="547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400">
                <a:solidFill>
                  <a:schemeClr val="tx1"/>
                </a:solidFill>
              </a:rPr>
              <a:t>抖音：keyword | maxResults(20~50) | dayRange(1/7/180天)</a:t>
            </a:r>
            <a:endParaRPr sz="1400">
              <a:solidFill>
                <a:schemeClr val="tx1"/>
              </a:solidFill>
            </a:endParaRP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rPr sz="1400">
                <a:solidFill>
                  <a:schemeClr val="tx1"/>
                </a:solidFill>
              </a:rPr>
              <a:t>淘宝直播：keyword | maxResults(10~50) | onlyLiving(仅直播中)</a:t>
            </a:r>
            <a:endParaRPr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D2D2D"/>
                </a:solidFill>
              </a:defRPr>
            </a:pPr>
            <a:r>
              <a:rPr sz="2800">
                <a:solidFill>
                  <a:srgbClr val="09607D"/>
                </a:solidFill>
              </a:rPr>
              <a:t>标准化输出格式 v1.0</a:t>
            </a:r>
            <a:endParaRPr sz="2800">
              <a:solidFill>
                <a:srgbClr val="09607D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9607D"/>
                </a:solidFill>
              </a:defRPr>
            </a:pPr>
            <a:r>
              <a:t>统一 JSON Schema，对接所有外部系统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000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607D"/>
                </a:solidFill>
              </a:defRPr>
            </a:pPr>
            <a:r>
              <a:t>顶层结构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00000"/>
            <a:ext cx="5500000" cy="2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schema: "yuqing.v1"    // 版本号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taskId: 唯一任务ID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platform: douyin / taobao_live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keyword: 搜索关键词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crawlLevel: L1 ~ L4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crawledAt: ISO 8601 时间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totalResults: 本次结果数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results: [ ResultItem数组 ]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summary: { 统计摘要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00000" y="1800000"/>
            <a:ext cx="4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607D"/>
                </a:solidFill>
              </a:defRPr>
            </a:pPr>
            <a:r>
              <a:t>ResultItem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0" y="2200000"/>
            <a:ext cx="48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contentId: {platform}_{nativeId}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platform / nativeId / url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title: 视频文案/直播标题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coverUrl: 封面图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author: { nickname, followerCount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metrics: { viewCount, likeCount,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           commentCount, shareCount }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publishedAt / collectedAt</a:t>
            </a:r>
          </a:p>
          <a:p>
            <a:pPr>
              <a:spcAft>
                <a:spcPts val="200"/>
              </a:spcAft>
              <a:defRPr sz="1100">
                <a:solidFill>
                  <a:srgbClr val="333333"/>
                </a:solidFill>
              </a:defRPr>
            </a:pPr>
            <a:r>
              <a:t>platformFields: { /* 平台特有 */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00000"/>
            <a:ext cx="10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607D"/>
                </a:solidFill>
              </a:defRPr>
            </a:pPr>
            <a:r>
              <a:t>字段映射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00000"/>
            <a:ext cx="105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抖音：statistics.play_count → metrics.viewCount | statistics.digg_count → metrics.likeCount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淘宝直播：[class*="infoText"]观看人数 → metrics.viewCount | [class*="accountName"] → author.nickname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平台特有字段 → platformFields 对象，不污染顶层结构</a:t>
            </a:r>
          </a:p>
          <a:p>
            <a:pPr>
              <a:spcAft>
                <a:spcPts val="200"/>
              </a:spcAft>
              <a:defRPr sz="1100">
                <a:solidFill>
                  <a:srgbClr val="555555"/>
                </a:solidFill>
              </a:defRPr>
            </a:pPr>
            <a:r>
              <a:t>所有字段可选（除 schema / taskId / platform / keyword / crawledAt / results 外）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9607D"/>
                </a:solidFill>
              </a:defRPr>
            </a:pPr>
            <a:r>
              <a:t>方案总结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2011680" cy="36576"/>
          </a:xfrm>
          <a:prstGeom prst="rect">
            <a:avLst/>
          </a:prstGeom>
          <a:solidFill>
            <a:srgbClr val="0960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11535" cy="73152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9607D"/>
                </a:solidFill>
              </a:defRPr>
            </a:pPr>
            <a:r>
              <a:t>🌐</a:t>
            </a:r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55448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607D"/>
                </a:solidFill>
              </a:defRPr>
            </a:pPr>
            <a:r>
              <a:t>覆盖全面</a:t>
            </a: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554480" y="1828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支持抖音、淘宝直播、新闻媒体、微博热搜等多个平台关键词搜索采集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091153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9607D"/>
                </a:solidFill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55448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607D"/>
                </a:solidFill>
              </a:defRPr>
            </a:pPr>
            <a:r>
              <a:t>响应快速</a:t>
            </a: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1554480" y="2697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关键词驱动，多级爬取(L1~L4)，按需调度，结果即采即回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10911535" cy="73152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9607D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1554480" y="3246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607D"/>
                </a:solidFill>
              </a:defRPr>
            </a:pPr>
            <a:r>
              <a:t>输出标准化</a:t>
            </a: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1554480" y="3566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统一 JSON Schema v1.0，所有平台输出格式一致，模型/系统即插即用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69080"/>
            <a:ext cx="1091153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9607D"/>
                </a:solidFill>
              </a:defRPr>
            </a:pPr>
            <a:r>
              <a:t>📋</a:t>
            </a:r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1554480" y="4114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607D"/>
                </a:solidFill>
              </a:defRPr>
            </a:pPr>
            <a:r>
              <a:t>模型友好</a:t>
            </a: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1554480" y="4434840"/>
            <a:ext cx="96012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结构化数据直接供大模型/外部系统</a:t>
            </a:r>
            <a:r>
              <a:rPr lang="zh-CN"/>
              <a:t>调用</a:t>
            </a:r>
            <a:r>
              <a:t>，降低对接成本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911535" cy="731520"/>
          </a:xfrm>
          <a:prstGeom prst="roundRect">
            <a:avLst/>
          </a:prstGeom>
          <a:solidFill>
            <a:srgbClr val="E8F2F5"/>
          </a:solidFill>
          <a:ln w="12700">
            <a:solidFill>
              <a:srgbClr val="DA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9607D"/>
                </a:solidFill>
              </a:defRPr>
            </a:pPr>
            <a:r>
              <a:t>🔄</a:t>
            </a:r>
          </a:p>
        </p:txBody>
      </p:sp>
      <p:sp>
        <p:nvSpPr>
          <p:cNvPr id="23" name="TextBox 22"/>
          <p:cNvSpPr txBox="1"/>
          <p:nvPr>
            <p:custDataLst>
              <p:tags r:id="rId9"/>
            </p:custDataLst>
          </p:nvPr>
        </p:nvSpPr>
        <p:spPr>
          <a:xfrm>
            <a:off x="155448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9607D"/>
                </a:solidFill>
              </a:defRPr>
            </a:pPr>
            <a:r>
              <a:t>后端闭环</a:t>
            </a:r>
          </a:p>
        </p:txBody>
      </p:sp>
      <p:sp>
        <p:nvSpPr>
          <p:cNvPr id="24" name="TextBox 23"/>
          <p:cNvSpPr txBox="1"/>
          <p:nvPr>
            <p:custDataLst>
              <p:tags r:id="rId10"/>
            </p:custDataLst>
          </p:nvPr>
        </p:nvSpPr>
        <p:spPr>
          <a:xfrm>
            <a:off x="15544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关键词入参 → 多级采集 → 标准化输出 → 返回模型/系统 → 数据归档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2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3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4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5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6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7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8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9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0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1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2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3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4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5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6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7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8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19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20.xml><?xml version="1.0" encoding="utf-8"?>
<p:tagLst xmlns:p="http://schemas.openxmlformats.org/presentationml/2006/main">
  <p:tag name="KSO_WM_DIAGRAM_VIRTUALLY_FRAME" val="{&quot;height&quot;:291.75,&quot;left&quot;:50.4,&quot;top&quot;:115.2,&quot;width&quot;:853.9200000000001}"/>
</p:tagLst>
</file>

<file path=ppt/tags/tag21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2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3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4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5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6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7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8.xml><?xml version="1.0" encoding="utf-8"?>
<p:tagLst xmlns:p="http://schemas.openxmlformats.org/presentationml/2006/main">
  <p:tag name="KSO_WM_DIAGRAM_VIRTUALLY_FRAME" val="{&quot;height&quot;:381.6,&quot;left&quot;:50.4,&quot;top&quot;:108,&quot;width&quot;:565.2}"/>
</p:tagLst>
</file>

<file path=ppt/tags/tag29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0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1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2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3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4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5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6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7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ags/tag38.xml><?xml version="1.0" encoding="utf-8"?>
<p:tagLst xmlns:p="http://schemas.openxmlformats.org/presentationml/2006/main">
  <p:tag name="KSO_WM_DIAGRAM_VIRTUALLY_FRAME" val="{&quot;height&quot;:324,&quot;left&quot;:122.4,&quot;top&quot;:118.8,&quot;width&quot;:75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2149</Words>
  <Application>WPS 演示</Application>
  <PresentationFormat>On-screen Show (4:3)</PresentationFormat>
  <Paragraphs>264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。。。</cp:lastModifiedBy>
  <cp:revision>18</cp:revision>
  <dcterms:created xsi:type="dcterms:W3CDTF">2013-01-27T09:14:00Z</dcterms:created>
  <dcterms:modified xsi:type="dcterms:W3CDTF">2026-05-20T04:50:08Z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B1EE6DEC899542D2B149FFDEA8C3C91D_13</vt:lpwstr>
  </property>
  <property fmtid="{D5CDD505-2E9C-101B-9397-08002B2CF9AE}" pid="3" name="KSOProductBuildVer">
    <vt:lpwstr>2052-12.1.0.26375</vt:lpwstr>
  </property>
</Properties>
</file>